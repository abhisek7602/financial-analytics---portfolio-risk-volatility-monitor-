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28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0"/>
            <a:ext cx="2560320" cy="777240"/>
          </a:xfrm>
          <a:prstGeom prst="rect">
            <a:avLst/>
          </a:prstGeom>
          <a:solidFill>
            <a:srgbClr val="00C2CB">
              <a:alpha val="8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548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2560320" cy="777240"/>
          </a:xfrm>
          <a:prstGeom prst="rect">
            <a:avLst/>
          </a:prstGeom>
          <a:solidFill>
            <a:srgbClr val="F4A223">
              <a:alpha val="80000"/>
            </a:srgbClr>
          </a:solidFill>
          <a:ln w="19050">
            <a:solidFill>
              <a:srgbClr val="F4A2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2560320" cy="777240"/>
          </a:xfrm>
          <a:prstGeom prst="rect">
            <a:avLst/>
          </a:prstGeom>
          <a:solidFill>
            <a:srgbClr val="4FC3F7">
              <a:alpha val="8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651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2560320" cy="777240"/>
          </a:xfrm>
          <a:prstGeom prst="rect">
            <a:avLst/>
          </a:prstGeom>
          <a:solidFill>
            <a:srgbClr val="81C784">
              <a:alpha val="80000"/>
            </a:srgbClr>
          </a:solidFill>
          <a:ln w="1905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703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 Testing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02920" y="1188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Optimization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Risk Analysis of Indian Equity Portfolio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475488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Infotact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Analytics Internship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Pandas · NumPy · Matplotlib · Seaborn · Tableau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NSE / Yahoo Finance  |  Period: 2015 – 2020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Project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are inherently volatile. This project builds an analytical framework to evaluate portfolio risk, optimize asset allocation, and stress-test performance under adverse market conditions using Indian blue-chip stocks.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2423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697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returns via ln(Pt/Pt-1) for statistical normality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2423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6432" y="2697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moving window standard deviation of returns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9202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92024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36792" y="2423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36792" y="2697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at 95% confidence for each stock in the portfolio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3756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76072" y="3840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4114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simulations over 252 trading days for forecasting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3375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33756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56432" y="3840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56432" y="4114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portfolios maximising return per unit of risk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3375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33756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36792" y="3840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36792" y="4114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 with market shock scenarios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STOCKS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164592" cy="6949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627632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Giant – Tata Consultancy 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0008"/>
            <a:ext cx="164592" cy="694944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423160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Conglomerate – Oil, Retail &amp; Telecom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45536"/>
            <a:ext cx="164592" cy="69494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3218688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93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Banking Leader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41064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41064"/>
            <a:ext cx="164592" cy="69494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14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4014216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288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Bank of India – PSU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NSE / Yahoo Finance  •  Period: Jan 2015 – Dec 2020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1097280"/>
            <a:ext cx="0" cy="3749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PREPROCESSING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60020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6550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1874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statistical analysis engine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24028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229514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2514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matrix computation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88036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29352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154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 &amp; visualization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52044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57530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7947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stress-testing dashboard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44805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converted to datetime format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 by forward-fill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aligned by date across all stocks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 = ln(price_t / price_t-1)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Run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87168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08576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9984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9984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4114800" cy="2697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94560"/>
            <a:ext cx="4114800" cy="411480"/>
          </a:xfrm>
          <a:prstGeom prst="rect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 returns &amp; covariance matrix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random multivariate normal returns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portfolio values over 252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5,000 times to build distribution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194560"/>
            <a:ext cx="4114800" cy="2697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194560"/>
            <a:ext cx="4114800" cy="411480"/>
          </a:xfrm>
          <a:prstGeom prst="rect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cone = high uncertainty in outcomes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= downside tail risk estimate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= optimistic bull scenario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path = most likely portfolio trajectory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4A223">
              <a:alpha val="30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Purpose: Visualise the distribution of possible future outcomes to understand both downside tail risk and upside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 – 95%)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95% probability that daily losses will NOT exceed these values under normal market conditions: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1920240" cy="45720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−0.0394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600200"/>
            <a:ext cx="1920240" cy="457200"/>
          </a:xfrm>
          <a:prstGeom prst="rect">
            <a:avLst/>
          </a:prstGeom>
          <a:solidFill>
            <a:srgbClr val="F4A223">
              <a:alpha val="80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60604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−0.0422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00200"/>
            <a:ext cx="1920240" cy="45720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-20.1%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−0.2012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600200"/>
            <a:ext cx="1920240" cy="457200"/>
          </a:xfrm>
          <a:prstGeom prst="rect">
            <a:avLst/>
          </a:prstGeom>
          <a:solidFill>
            <a:srgbClr val="81C784">
              <a:alpha val="8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-6.6%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90372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−0.0656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Daily VaR Risk Exposure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393214"/>
            <a:ext cx="1371600" cy="13306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13718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80360" y="4382979"/>
            <a:ext cx="1371600" cy="143301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4126947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8036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3840480"/>
            <a:ext cx="1371600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584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4301092"/>
            <a:ext cx="1371600" cy="22518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40450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7804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HDFC shows anomalously high VaR (−20.1%) — likely due to a data event or restructuring in the 2015–2020 period. SBI carries the highest standalone volatility risk.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Efficient Frontier?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931920" cy="71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portfolio weights were simulated to generate thousands of portfolio combinations. For each combination, the expected annual return, volatility, and Sharpe ratio were computed. The Efficient Frontier represents the upper-left edge — the portfolios offering the maximum return for each level of risk.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— Random Portfolio Simulation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vs Return Space)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0" cy="1325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754880"/>
            <a:ext cx="3108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5400000"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47731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(Risk)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9344" y="2420417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9646" y="260969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9948" y="279897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0250" y="2925166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0552" y="3114446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4288" y="3303727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4892" y="349300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25496" y="3619195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374538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84633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52778" y="2357323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2546604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3382" y="2735885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43684" y="286207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17420" y="3051353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78024" y="3240634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38628" y="3429914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355610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59836" y="3682289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07308" y="3783239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17420" y="349300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78024" y="3644433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3720145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12364" y="3770620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59836" y="3871570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36192" y="2347265"/>
            <a:ext cx="164592" cy="164592"/>
          </a:xfrm>
          <a:prstGeom prst="ellipse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00200" y="33649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Max Sharpe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47288" y="377318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Min Volatility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PORTFOLIOS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0" y="155448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0" y="1554480"/>
            <a:ext cx="4206240" cy="457200"/>
          </a:xfrm>
          <a:prstGeom prst="rect">
            <a:avLst/>
          </a:prstGeom>
          <a:solidFill>
            <a:srgbClr val="F4A223">
              <a:alpha val="80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Maximum Sharpe Ratio Portfolio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09160" y="20848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1.277  (127.7%)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2395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0.417  (41.7%)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09160" y="2706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2706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3.066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0" y="324612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0" y="3246120"/>
            <a:ext cx="4206240" cy="45720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Minimum Volatility Portfolio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709160" y="3776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26480" y="3776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0.923  (92.3%)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70916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26480" y="4087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0.363  (36.3%)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709160" y="43982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126480" y="4398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2.543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conservative investors seeking lower risk exposure.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COMPARISON &amp; ALLOCATION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Optimal vs Equal-Weight Portfolio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21624" cy="26334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Volatility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(95%)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~−2.1%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~−3.5%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ALLOCATION WEIGHTS</a:t>
            </a:r>
            <a:endParaRPr lang="en-US" sz="1200" dirty="0"/>
          </a:p>
        </p:txBody>
      </p:sp>
      <p:sp>
        <p:nvSpPr>
          <p:cNvPr id="6" name="Shape 5"/>
          <p:cNvSpPr/>
          <p:nvPr/>
        </p:nvSpPr>
        <p:spPr>
          <a:xfrm>
            <a:off x="365760" y="4434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453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Sharpe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727448"/>
            <a:ext cx="1305763" cy="228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727448"/>
            <a:ext cx="13057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34%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62963" y="4727448"/>
            <a:ext cx="1075334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62963" y="4727448"/>
            <a:ext cx="10753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28%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38298" y="4727448"/>
            <a:ext cx="921715" cy="22860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8298" y="4727448"/>
            <a:ext cx="9217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 24%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60013" y="4727448"/>
            <a:ext cx="537667" cy="22860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0013" y="4727448"/>
            <a:ext cx="53766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14%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00600" y="4434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92040" y="4453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Volatility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92040" y="4727448"/>
            <a:ext cx="1574597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4727448"/>
            <a:ext cx="157459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41%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66637" y="4727448"/>
            <a:ext cx="1228954" cy="228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6637" y="4727448"/>
            <a:ext cx="12289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32%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695590" y="4727448"/>
            <a:ext cx="768096" cy="22860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5590" y="472744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 20%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63686" y="4727448"/>
            <a:ext cx="268834" cy="22860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STRESS TESTING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Price Trends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chart of TCS, Reliance, HDFC, SBI adjusted prices (2015–2020)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Rolling Volatility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1579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volatility comparison across all four stocks over the full period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Shock Slider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07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parameter to apply any percentage shock (positive or negative)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4670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4015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Price Adjustment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recalculate in real-time based on the applied shock scenario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965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1513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Visualization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4074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impact across all stocks — spot which is most vulnerable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SHOCK SCENARIOS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508760"/>
            <a:ext cx="2834640" cy="548640"/>
          </a:xfrm>
          <a:prstGeom prst="rect">
            <a:avLst/>
          </a:prstGeom>
          <a:solidFill>
            <a:srgbClr val="E53E3E">
              <a:alpha val="40000"/>
            </a:srgbClr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5636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Crisis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15636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8013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2167128"/>
            <a:ext cx="2834640" cy="548640"/>
          </a:xfrm>
          <a:prstGeom prst="rect">
            <a:avLst/>
          </a:prstGeom>
          <a:solidFill>
            <a:srgbClr val="E8853E">
              <a:alpha val="40000"/>
            </a:srgbClr>
          </a:solidFill>
          <a:ln w="19050">
            <a:solidFill>
              <a:srgbClr val="E885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Crash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22219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24597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9320" y="2825496"/>
            <a:ext cx="2834640" cy="548640"/>
          </a:xfrm>
          <a:prstGeom prst="rect">
            <a:avLst/>
          </a:prstGeom>
          <a:solidFill>
            <a:srgbClr val="2F855A">
              <a:alpha val="40000"/>
            </a:srgbClr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8803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Run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8803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26480" y="31181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9320" y="3483864"/>
            <a:ext cx="2834640" cy="548640"/>
          </a:xfrm>
          <a:prstGeom prst="rect">
            <a:avLst/>
          </a:prstGeom>
          <a:solidFill>
            <a:srgbClr val="F4A223">
              <a:alpha val="40000"/>
            </a:srgbClr>
          </a:solidFill>
          <a:ln w="19050">
            <a:solidFill>
              <a:srgbClr val="F4A2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5387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89520" y="3538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26480" y="37764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4142232"/>
            <a:ext cx="2834640" cy="548640"/>
          </a:xfrm>
          <a:prstGeom prst="rect">
            <a:avLst/>
          </a:prstGeom>
          <a:solidFill>
            <a:srgbClr val="1B6CA8">
              <a:alpha val="40000"/>
            </a:srgbClr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19709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Shock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89520" y="41970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±X%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26480" y="4434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drag the shock slider to instantly observe portfolio price movements and rolling volatility changes across all stocks in real-time.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📈  SBI — Highest Volatility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099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exhibited the highest daily return variance among all four stocks, making it the riskiest standalone holding in the portfolio.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43000"/>
            <a:ext cx="2743200" cy="502920"/>
          </a:xfrm>
          <a:prstGeom prst="rect">
            <a:avLst/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🏦  HDFC Bank — Most Stable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7099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consistently showed the lowest rolling volatility, positioning it as the defensive anchor for the minimum-volatility portfolio.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743200" cy="502920"/>
          </a:xfrm>
          <a:prstGeom prst="rect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🎲  Wide Monte Carlo Distribution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7099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simulations revealed a wide cone of possible future values — underscoring the importance of diversification and risk budgeting.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2743200" cy="502920"/>
          </a:xfrm>
          <a:prstGeom prst="rect">
            <a:avLst/>
          </a:prstGeom>
          <a:solidFill>
            <a:srgbClr val="F4A223">
              <a:alpha val="85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71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⭐  Max Sharpe = Best Risk-Adjusted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5387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Sharpe portfolio achieved a Sharpe of ~3.07 — significantly superior to equal-weight allocation, validating the optimization approach.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971800"/>
            <a:ext cx="2743200" cy="502920"/>
          </a:xfrm>
          <a:prstGeom prst="rect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971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⚡  Dynamic Stress Testing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35387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Tableau dashboard enabled real-time simulation of market shocks (2008 crisis, COVID crash) allowing portfolio managers to test resilience instantly.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127.7%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95%: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0956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440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the application of quantitative finance techniques for portfolio optimization and risk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1" y="1783080"/>
            <a:ext cx="2651760" cy="2286000"/>
          </a:xfrm>
          <a:prstGeom prst="rect">
            <a:avLst/>
          </a:prstGeom>
          <a:solidFill>
            <a:srgbClr val="112233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simulations and VaR calculations provide rigorous quantification of downside risk across all market conditions.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651760" cy="2286000"/>
          </a:xfrm>
          <a:prstGeom prst="rect">
            <a:avLst/>
          </a:prstGeom>
          <a:solidFill>
            <a:srgbClr val="112233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28346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analysis identifies the ideal weight allocation that maximizes risk-adjusted return for any investor profile.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51760" cy="2286000"/>
          </a:xfrm>
          <a:prstGeom prst="rect">
            <a:avLst/>
          </a:prstGeom>
          <a:solidFill>
            <a:srgbClr val="112233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28346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Tableau dashboard enables real-time scenario analysis, making it an invaluable tool for investment and risk management teams.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 Testing &amp; Optimization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542032"/>
            <a:ext cx="4572000" cy="27432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672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•  Infotact Solutions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·  Pandas  ·  NumPy  ·  Matplotlib  ·  Seaborn  ·  Tableau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NSE / Yahoo Finance  •  Stocks: TCS, Reliance, HDFC, SBI  •  Period: 2015–2020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Infotact Data Analytics Internship  •  Month-2 Project  •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1186</Words>
  <Application>Microsoft Office PowerPoint</Application>
  <PresentationFormat>On-screen Show (16:9)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Stress Testing &amp; Optimization</dc:title>
  <dc:subject>PptxGenJS Presentation</dc:subject>
  <dc:creator>Financial Analytics</dc:creator>
  <cp:lastModifiedBy>Abhisek Nayak</cp:lastModifiedBy>
  <cp:revision>6</cp:revision>
  <dcterms:created xsi:type="dcterms:W3CDTF">2026-03-25T17:41:53Z</dcterms:created>
  <dcterms:modified xsi:type="dcterms:W3CDTF">2026-04-10T14:45:33Z</dcterms:modified>
</cp:coreProperties>
</file>