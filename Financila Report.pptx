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628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112233">
              <a:alpha val="80000"/>
            </a:srgbClr>
          </a:solidFill>
          <a:ln w="12700">
            <a:solidFill>
              <a:srgbClr val="1122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548640"/>
            <a:ext cx="2560320" cy="777240"/>
          </a:xfrm>
          <a:prstGeom prst="rect">
            <a:avLst/>
          </a:prstGeom>
          <a:solidFill>
            <a:srgbClr val="00C2CB">
              <a:alpha val="80000"/>
            </a:srgbClr>
          </a:solidFill>
          <a:ln w="19050">
            <a:solidFill>
              <a:srgbClr val="00C2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0" y="5486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17920" y="1600200"/>
            <a:ext cx="2560320" cy="777240"/>
          </a:xfrm>
          <a:prstGeom prst="rect">
            <a:avLst/>
          </a:prstGeom>
          <a:solidFill>
            <a:srgbClr val="F4A223">
              <a:alpha val="80000"/>
            </a:srgbClr>
          </a:solidFill>
          <a:ln w="19050">
            <a:solidFill>
              <a:srgbClr val="F4A2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0" y="1600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217920" y="2651760"/>
            <a:ext cx="2560320" cy="777240"/>
          </a:xfrm>
          <a:prstGeom prst="rect">
            <a:avLst/>
          </a:prstGeom>
          <a:solidFill>
            <a:srgbClr val="4FC3F7">
              <a:alpha val="80000"/>
            </a:srgbClr>
          </a:solidFill>
          <a:ln w="19050">
            <a:solidFill>
              <a:srgbClr val="4FC3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265176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3703320"/>
            <a:ext cx="2560320" cy="777240"/>
          </a:xfrm>
          <a:prstGeom prst="rect">
            <a:avLst/>
          </a:prstGeom>
          <a:solidFill>
            <a:srgbClr val="81C784">
              <a:alpha val="80000"/>
            </a:srgbClr>
          </a:solidFill>
          <a:ln w="19050">
            <a:solidFill>
              <a:srgbClr val="81C7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370332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2920" y="4572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Stress Testing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502920" y="11887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Optimization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502920" y="2103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Quantitative Risk Analysis of Indian Equity Portfolio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4754880" cy="36576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803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Abhisek Nayak  |  </a:t>
            </a: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Infotact Data Analytics Internship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329184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Python · Pandas · NumPy · Matplotlib · Seaborn · Tableau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361188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NSE / Yahoo Finance  |  Period: 2015 – 2020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6CA8">
              <a:alpha val="40000"/>
            </a:srgbClr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Analytics Project  •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markets are inherently volatile. This project builds an analytical framework to evaluate portfolio risk, optimize asset allocation, and stress-test performance under adverse market conditions using Indian blue-chip stocks.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92024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920240"/>
            <a:ext cx="201168" cy="123444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99339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76072" y="242316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Returns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" y="26974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log returns via ln(Pt/Pt-1) for statistical normality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192024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920240"/>
            <a:ext cx="201168" cy="123444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99339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56432" y="242316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Volatility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56432" y="26974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moving window standard deviation of returns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192024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1920240"/>
            <a:ext cx="201168" cy="123444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36792" y="199339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🛡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36792" y="242316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at Risk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36792" y="269748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at 95% confidence for each stock in the portfolio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33756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337560"/>
            <a:ext cx="201168" cy="123444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6072" y="34107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76072" y="3840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76072" y="411480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simulations over 252 trading days for forecasting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0" y="333756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0" y="3337560"/>
            <a:ext cx="201168" cy="123444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56432" y="34107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56432" y="3840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Frontier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456432" y="411480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portfolios maximising return per unit of risk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80760" y="3337560"/>
            <a:ext cx="269748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80760" y="3337560"/>
            <a:ext cx="201168" cy="123444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34107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36792" y="3840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6792" y="411480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Tableau dashboard with market shock scenarios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F4A223"/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METHODOLOGY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STOCKS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38404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554480"/>
            <a:ext cx="164592" cy="694944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6276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0" y="1627632"/>
            <a:ext cx="640080" cy="228600"/>
          </a:xfrm>
          <a:prstGeom prst="rect">
            <a:avLst/>
          </a:prstGeom>
          <a:solidFill>
            <a:srgbClr val="1B6CA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190195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Giant – Tata Consultancy Services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350008"/>
            <a:ext cx="38404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2350008"/>
            <a:ext cx="164592" cy="694944"/>
          </a:xfrm>
          <a:prstGeom prst="rect">
            <a:avLst/>
          </a:prstGeom>
          <a:solidFill>
            <a:srgbClr val="F4A223"/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423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60320" y="2423160"/>
            <a:ext cx="640080" cy="228600"/>
          </a:xfrm>
          <a:prstGeom prst="rect">
            <a:avLst/>
          </a:prstGeom>
          <a:solidFill>
            <a:srgbClr val="1B6CA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26974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Conglomerate – Oil, Retail &amp; Telecom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145536"/>
            <a:ext cx="38404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3145536"/>
            <a:ext cx="164592" cy="69494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2186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 Bank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560320" y="3218688"/>
            <a:ext cx="640080" cy="228600"/>
          </a:xfrm>
          <a:prstGeom prst="rect">
            <a:avLst/>
          </a:prstGeom>
          <a:solidFill>
            <a:srgbClr val="1B6CA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49300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Banking Leader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3941064"/>
            <a:ext cx="38404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941064"/>
            <a:ext cx="164592" cy="694944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0142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560320" y="4014216"/>
            <a:ext cx="640080" cy="228600"/>
          </a:xfrm>
          <a:prstGeom prst="rect">
            <a:avLst/>
          </a:prstGeom>
          <a:solidFill>
            <a:srgbClr val="1B6CA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0080" y="428853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Bank of India – PSU Banking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65760" y="47091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NSE / Yahoo Finance  •  Period: Jan 2015 – Dec 2020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480560" y="1097280"/>
            <a:ext cx="0" cy="374904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1097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PREPROCESSING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663440" y="1600200"/>
            <a:ext cx="4114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846320" y="165506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46320" y="187452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statistical analysis engine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63440" y="2240280"/>
            <a:ext cx="4114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46320" y="229514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/ NumPy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46320" y="251460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wrangling &amp; matrix computation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2880360"/>
            <a:ext cx="4114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846320" y="29352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/ Seaborn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846320" y="31546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generation &amp; visualization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63440" y="3520440"/>
            <a:ext cx="41148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846320" y="357530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846320" y="379476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stress-testing dashboard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663440" y="4160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STEPS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663440" y="448056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column converted to datetime format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handled by forward-fill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aligned by date across all stocks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returns = ln(price_t / price_t-1)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F4A223"/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SIMULATION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920240" cy="914400"/>
          </a:xfrm>
          <a:prstGeom prst="rect">
            <a:avLst/>
          </a:prstGeom>
          <a:solidFill>
            <a:srgbClr val="1B6CA8">
              <a:alpha val="30000"/>
            </a:srgbClr>
          </a:solidFill>
          <a:ln w="19050">
            <a:solidFill>
              <a:srgbClr val="00C2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430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5760" y="162763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Simulations Run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87168" y="1097280"/>
            <a:ext cx="1920240" cy="914400"/>
          </a:xfrm>
          <a:prstGeom prst="rect">
            <a:avLst/>
          </a:prstGeom>
          <a:solidFill>
            <a:srgbClr val="1B6CA8">
              <a:alpha val="30000"/>
            </a:srgbClr>
          </a:solidFill>
          <a:ln w="19050">
            <a:solidFill>
              <a:srgbClr val="00C2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87168" y="11430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87168" y="162763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 Days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08576" y="1097280"/>
            <a:ext cx="1920240" cy="914400"/>
          </a:xfrm>
          <a:prstGeom prst="rect">
            <a:avLst/>
          </a:prstGeom>
          <a:solidFill>
            <a:srgbClr val="1B6CA8">
              <a:alpha val="30000"/>
            </a:srgbClr>
          </a:solidFill>
          <a:ln w="19050">
            <a:solidFill>
              <a:srgbClr val="00C2C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11430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08576" y="162763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VaR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29984" y="1097280"/>
            <a:ext cx="1920240" cy="914400"/>
          </a:xfrm>
          <a:prstGeom prst="rect">
            <a:avLst/>
          </a:prstGeom>
          <a:solidFill>
            <a:srgbClr val="1B6CA8">
              <a:alpha val="30000"/>
            </a:srgbClr>
          </a:solidFill>
          <a:ln w="19050">
            <a:solidFill>
              <a:srgbClr val="00C2C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29984" y="11430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30D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29984" y="1627632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Volatility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194560"/>
            <a:ext cx="4114800" cy="2697480"/>
          </a:xfrm>
          <a:prstGeom prst="rect">
            <a:avLst/>
          </a:prstGeom>
          <a:solidFill>
            <a:srgbClr val="112233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194560"/>
            <a:ext cx="4114800" cy="411480"/>
          </a:xfrm>
          <a:prstGeom prst="rect">
            <a:avLst/>
          </a:prstGeom>
          <a:solidFill>
            <a:srgbClr val="1B6CA8">
              <a:alpha val="60000"/>
            </a:srgbClr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1945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2697480"/>
            <a:ext cx="3840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mean returns &amp; covariance matrix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random multivariate normal returns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portfolio values over 252 days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5,000 times to build distribution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00600" y="2194560"/>
            <a:ext cx="4114800" cy="2697480"/>
          </a:xfrm>
          <a:prstGeom prst="rect">
            <a:avLst/>
          </a:prstGeom>
          <a:solidFill>
            <a:srgbClr val="112233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00600" y="2194560"/>
            <a:ext cx="4114800" cy="411480"/>
          </a:xfrm>
          <a:prstGeom prst="rect">
            <a:avLst/>
          </a:prstGeom>
          <a:solidFill>
            <a:srgbClr val="1B6CA8">
              <a:alpha val="60000"/>
            </a:srgbClr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21945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2697480"/>
            <a:ext cx="3840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cone = high uncertainty in outcomes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 = downside tail risk estimate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 = optimistic bull scenario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path = most likely portfolio trajectory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4A223">
              <a:alpha val="30000"/>
            </a:srgbClr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754880"/>
            <a:ext cx="85953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Purpose: Visualise the distribution of possible future outcomes to understand both downside tail risk and upside potential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AT RISK (VaR – 95%)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95% probability that daily losses will NOT exceed these values under normal market conditions: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920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600200"/>
            <a:ext cx="1920240" cy="457200"/>
          </a:xfrm>
          <a:prstGeom prst="rect">
            <a:avLst/>
          </a:prstGeom>
          <a:solidFill>
            <a:srgbClr val="00C2CB">
              <a:alpha val="80000"/>
            </a:srgbClr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66420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27432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daily loss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Raw: −0.0394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27355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 95% confidence)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06040" y="1600200"/>
            <a:ext cx="1920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06040" y="1600200"/>
            <a:ext cx="1920240" cy="457200"/>
          </a:xfrm>
          <a:prstGeom prst="rect">
            <a:avLst/>
          </a:prstGeom>
          <a:solidFill>
            <a:srgbClr val="F4A223">
              <a:alpha val="80000"/>
            </a:srgbClr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06040" y="166420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06040" y="2148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2606040" y="27432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daily loss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06040" y="30175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Raw: −0.0422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06040" y="327355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 95% confidence)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1600200"/>
            <a:ext cx="1920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1600200"/>
            <a:ext cx="1920240" cy="457200"/>
          </a:xfrm>
          <a:prstGeom prst="rect">
            <a:avLst/>
          </a:prstGeom>
          <a:solidFill>
            <a:srgbClr val="4FC3F7">
              <a:alpha val="80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166420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54880" y="2148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-20.1%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4754880" y="27432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daily loss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54880" y="30175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Raw: −0.2012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0" y="327355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 95% confidence)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03720" y="1600200"/>
            <a:ext cx="1920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03720" y="1600200"/>
            <a:ext cx="1920240" cy="457200"/>
          </a:xfrm>
          <a:prstGeom prst="rect">
            <a:avLst/>
          </a:prstGeom>
          <a:solidFill>
            <a:srgbClr val="81C784">
              <a:alpha val="80000"/>
            </a:srgbClr>
          </a:solidFill>
          <a:ln w="12700">
            <a:solidFill>
              <a:srgbClr val="81C78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3720" y="166420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903720" y="214884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-6.6%</a:t>
            </a:r>
            <a:endParaRPr lang="en-US" sz="3400" dirty="0"/>
          </a:p>
        </p:txBody>
      </p:sp>
      <p:sp>
        <p:nvSpPr>
          <p:cNvPr id="31" name="Text 29"/>
          <p:cNvSpPr/>
          <p:nvPr/>
        </p:nvSpPr>
        <p:spPr>
          <a:xfrm>
            <a:off x="6903720" y="27432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daily loss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903720" y="30175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Raw: −0.0656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03720" y="3273552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 95% confidence)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37490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Daily VaR Risk Exposure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1520" y="4393214"/>
            <a:ext cx="1371600" cy="133066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4137182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3.9%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880360" y="4382979"/>
            <a:ext cx="1371600" cy="143301"/>
          </a:xfrm>
          <a:prstGeom prst="rect">
            <a:avLst/>
          </a:prstGeom>
          <a:solidFill>
            <a:srgbClr val="F4A223"/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80360" y="4126947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4A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880360" y="4572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0" y="3840480"/>
            <a:ext cx="1371600" cy="6858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29200" y="358444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20.1%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029200" y="4572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178040" y="4301092"/>
            <a:ext cx="1371600" cy="225188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78040" y="40450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1C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6.6%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7178040" y="4572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52628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0D1B2A">
              <a:alpha val="9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" y="477316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HDFC shows anomalously high VaR (−20.1%) — likely due to a data event or restructuring in the 2015–2020 period. SBI carries the highest standalone volatility risk.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FRONTIER 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Efficient Frontier?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3931920" cy="711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portfolio weights were simulated to generate thousands of portfolio combinations. For each combination, the expected annual return, volatility, and Sharpe ratio were computed. The Efficient Frontier represents the upper-left edge — the portfolios offering the maximum return for each level of risk.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39319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8803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Frontier — Random Portfolio Simulation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(Risk vs Return Space)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914400" y="3429000"/>
            <a:ext cx="0" cy="132588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754880"/>
            <a:ext cx="310896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 rot="5400000"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11680" y="477316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(Risk)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09344" y="2420417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39646" y="2609698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9948" y="2798978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0250" y="2925166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30552" y="3114446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04288" y="3303727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4892" y="3493008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25496" y="3619195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72968" y="3745382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0440" y="3846332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52778" y="2357323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83080" y="2546604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13382" y="2735885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43684" y="2862072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17420" y="3051353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478024" y="3240634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38628" y="3429914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99232" y="3556102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59836" y="3682289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07308" y="3783239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17420" y="3493008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78024" y="3644433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51760" y="3720145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12364" y="3770620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59836" y="3871570"/>
            <a:ext cx="73152" cy="73152"/>
          </a:xfrm>
          <a:prstGeom prst="ellipse">
            <a:avLst/>
          </a:prstGeom>
          <a:solidFill>
            <a:srgbClr val="2DD4BF">
              <a:alpha val="70000"/>
            </a:srgbClr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36192" y="2347265"/>
            <a:ext cx="164592" cy="164592"/>
          </a:xfrm>
          <a:prstGeom prst="ellipse">
            <a:avLst/>
          </a:prstGeom>
          <a:solidFill>
            <a:srgbClr val="F4A223"/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00200" y="3364992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4A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Max Sharpe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47288" y="3773180"/>
            <a:ext cx="164592" cy="164592"/>
          </a:xfrm>
          <a:prstGeom prst="ellipse">
            <a:avLst/>
          </a:prstGeom>
          <a:solidFill>
            <a:srgbClr val="E53E3E"/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3280" y="4434840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53E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Min Volatility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572000" y="109728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6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PORTFOLIOS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72000" y="1554480"/>
            <a:ext cx="4206240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572000" y="1554480"/>
            <a:ext cx="4206240" cy="457200"/>
          </a:xfrm>
          <a:prstGeom prst="rect">
            <a:avLst/>
          </a:prstGeom>
          <a:solidFill>
            <a:srgbClr val="F4A223">
              <a:alpha val="80000"/>
            </a:srgbClr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15544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Maximum Sharpe Ratio Portfolio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709160" y="208483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Return: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126480" y="208483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1.277  (127.7%)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709160" y="239572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Volatility: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126480" y="239572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0.417  (41.7%)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4709160" y="270662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Ratio: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126480" y="270662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3.066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572000" y="3246120"/>
            <a:ext cx="4206240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C2C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572000" y="3246120"/>
            <a:ext cx="4206240" cy="457200"/>
          </a:xfrm>
          <a:prstGeom prst="rect">
            <a:avLst/>
          </a:prstGeom>
          <a:solidFill>
            <a:srgbClr val="00C2CB">
              <a:alpha val="80000"/>
            </a:srgbClr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09160" y="32461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Minimum Volatility Portfolio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4709160" y="377647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Return: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6126480" y="377647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0.923  (92.3%)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709160" y="4087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Volatility: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126480" y="408736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0.363  (36.3%)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709160" y="439826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Ratio: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6126480" y="4398264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2.543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4572000" y="484632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conservative investors seeking lower risk exposure.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2F855A"/>
          </a:solidFill>
          <a:ln w="12700">
            <a:solidFill>
              <a:srgbClr val="2F855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COMPARISON &amp; ALLOCATION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Side-by-Side: Optimal vs Equal-Weight Portfolio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21624" cy="2633472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5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75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756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Sharpe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A2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Volatility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CA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Return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 Ratio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 (95%)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~−2.5%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~−2.1%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~−3.5%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Profile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0690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ALLOCATION WEIGHTS</a:t>
            </a:r>
            <a:endParaRPr lang="en-US" sz="1200" dirty="0"/>
          </a:p>
        </p:txBody>
      </p:sp>
      <p:sp>
        <p:nvSpPr>
          <p:cNvPr id="6" name="Shape 5"/>
          <p:cNvSpPr/>
          <p:nvPr/>
        </p:nvSpPr>
        <p:spPr>
          <a:xfrm>
            <a:off x="365760" y="4434840"/>
            <a:ext cx="41148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445312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Sharpe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4727448"/>
            <a:ext cx="1305763" cy="22860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4727448"/>
            <a:ext cx="1305763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 34%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762963" y="4727448"/>
            <a:ext cx="1075334" cy="2286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762963" y="4727448"/>
            <a:ext cx="107533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 28%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838298" y="4727448"/>
            <a:ext cx="921715" cy="228600"/>
          </a:xfrm>
          <a:prstGeom prst="rect">
            <a:avLst/>
          </a:prstGeom>
          <a:solidFill>
            <a:srgbClr val="F4A223"/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838298" y="4727448"/>
            <a:ext cx="9217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 24%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760013" y="4727448"/>
            <a:ext cx="537667" cy="22860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60013" y="4727448"/>
            <a:ext cx="537667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14%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800600" y="4434840"/>
            <a:ext cx="41148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892040" y="445312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Volatility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892040" y="4727448"/>
            <a:ext cx="1574597" cy="2286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92040" y="4727448"/>
            <a:ext cx="1574597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 41%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466637" y="4727448"/>
            <a:ext cx="1228954" cy="22860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6637" y="4727448"/>
            <a:ext cx="122895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TCS 32%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7695590" y="4727448"/>
            <a:ext cx="768096" cy="228600"/>
          </a:xfrm>
          <a:prstGeom prst="rect">
            <a:avLst/>
          </a:prstGeom>
          <a:solidFill>
            <a:srgbClr val="F4A223"/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695590" y="4727448"/>
            <a:ext cx="76809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 20%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463686" y="4727448"/>
            <a:ext cx="268834" cy="228600"/>
          </a:xfrm>
          <a:prstGeom prst="rect">
            <a:avLst/>
          </a:prstGeom>
          <a:solidFill>
            <a:srgbClr val="81C784"/>
          </a:solidFill>
          <a:ln w="12700">
            <a:solidFill>
              <a:srgbClr val="81C784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STRESS TESTING DASHBOARD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303520" cy="640080"/>
          </a:xfrm>
          <a:prstGeom prst="rect">
            <a:avLst/>
          </a:prstGeom>
          <a:solidFill>
            <a:srgbClr val="112233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15214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Price Trends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140817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chart of TCS, Reliance, HDFC, SBI adjusted prices (2015–2020)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1847088"/>
            <a:ext cx="5303520" cy="640080"/>
          </a:xfrm>
          <a:prstGeom prst="rect">
            <a:avLst/>
          </a:prstGeom>
          <a:solidFill>
            <a:srgbClr val="112233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47088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19019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Rolling Volatility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15798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volatility comparison across all four stocks over the full period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596896"/>
            <a:ext cx="5303520" cy="640080"/>
          </a:xfrm>
          <a:prstGeom prst="rect">
            <a:avLst/>
          </a:prstGeom>
          <a:solidFill>
            <a:srgbClr val="112233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596896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0120" y="265176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Shock Slider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29077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parameter to apply any percentage shock (positive or negative)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346704"/>
            <a:ext cx="5303520" cy="640080"/>
          </a:xfrm>
          <a:prstGeom prst="rect">
            <a:avLst/>
          </a:prstGeom>
          <a:solidFill>
            <a:srgbClr val="112233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346704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34015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Price Adjustment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365760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recalculate in real-time based on the applied shock scenario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096512"/>
            <a:ext cx="5303520" cy="640080"/>
          </a:xfrm>
          <a:prstGeom prst="rect">
            <a:avLst/>
          </a:prstGeom>
          <a:solidFill>
            <a:srgbClr val="112233"/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096512"/>
            <a:ext cx="457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60120" y="415137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Visualization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60120" y="440740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 impact across all stocks — spot which is most vulnerable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989320" y="10972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SHOCK SCENARIOS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89320" y="1508760"/>
            <a:ext cx="2834640" cy="548640"/>
          </a:xfrm>
          <a:prstGeom prst="rect">
            <a:avLst/>
          </a:prstGeom>
          <a:solidFill>
            <a:srgbClr val="E53E3E">
              <a:alpha val="40000"/>
            </a:srgbClr>
          </a:solidFill>
          <a:ln w="19050">
            <a:solidFill>
              <a:srgbClr val="E53E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0" y="1563624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 Crisis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9520" y="1563624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−42%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126480" y="1801368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simulation applied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989320" y="2167128"/>
            <a:ext cx="2834640" cy="548640"/>
          </a:xfrm>
          <a:prstGeom prst="rect">
            <a:avLst/>
          </a:prstGeom>
          <a:solidFill>
            <a:srgbClr val="E8853E">
              <a:alpha val="40000"/>
            </a:srgbClr>
          </a:solidFill>
          <a:ln w="19050">
            <a:solidFill>
              <a:srgbClr val="E8853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0" y="222199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 Crash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9520" y="2221992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−35%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126480" y="2459736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simulation applied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989320" y="2825496"/>
            <a:ext cx="2834640" cy="548640"/>
          </a:xfrm>
          <a:prstGeom prst="rect">
            <a:avLst/>
          </a:prstGeom>
          <a:solidFill>
            <a:srgbClr val="2F855A">
              <a:alpha val="40000"/>
            </a:srgbClr>
          </a:solidFill>
          <a:ln w="19050">
            <a:solidFill>
              <a:srgbClr val="2F855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0" y="28803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 Run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589520" y="2880360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+28%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126480" y="3118104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simulation applied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989320" y="3483864"/>
            <a:ext cx="2834640" cy="548640"/>
          </a:xfrm>
          <a:prstGeom prst="rect">
            <a:avLst/>
          </a:prstGeom>
          <a:solidFill>
            <a:srgbClr val="F4A223">
              <a:alpha val="40000"/>
            </a:srgbClr>
          </a:solidFill>
          <a:ln w="19050">
            <a:solidFill>
              <a:srgbClr val="F4A22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0" y="3538728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Hike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589520" y="353872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−15%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126480" y="37764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simulation applied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989320" y="4142232"/>
            <a:ext cx="2834640" cy="548640"/>
          </a:xfrm>
          <a:prstGeom prst="rect">
            <a:avLst/>
          </a:prstGeom>
          <a:solidFill>
            <a:srgbClr val="1B6CA8">
              <a:alpha val="40000"/>
            </a:srgbClr>
          </a:solidFill>
          <a:ln w="19050">
            <a:solidFill>
              <a:srgbClr val="1B6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0" y="419709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Shock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589520" y="4197096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±X%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126480" y="4434840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simulation applied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B6CA8">
              <a:alpha val="30000"/>
            </a:srgbClr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" y="477316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drag the shock slider to instantly observe portfolio price movements and rolling volatility changes across all stocks in real-time.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F4A223"/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 &amp; FINDINGS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27432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53E3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43000"/>
            <a:ext cx="2743200" cy="502920"/>
          </a:xfrm>
          <a:prstGeom prst="rect">
            <a:avLst/>
          </a:prstGeom>
          <a:solidFill>
            <a:srgbClr val="E53E3E">
              <a:alpha val="85000"/>
            </a:srgbClr>
          </a:solidFill>
          <a:ln w="12700">
            <a:solidFill>
              <a:srgbClr val="E53E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1430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📈  SBI — Highest Volatility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" y="170992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SBI exhibited the highest daily return variance among all four stocks, making it the riskiest standalone holding in the portfolio.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1143000"/>
            <a:ext cx="27432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4FC3F7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1143000"/>
            <a:ext cx="2743200" cy="502920"/>
          </a:xfrm>
          <a:prstGeom prst="rect">
            <a:avLst/>
          </a:prstGeom>
          <a:solidFill>
            <a:srgbClr val="4FC3F7">
              <a:alpha val="85000"/>
            </a:srgbClr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1430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🏦  HDFC Bank — Most Stable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64408" y="170992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HDFC Bank consistently showed the lowest rolling volatility, positioning it as the defensive anchor for the minimum-volatility portfolio.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143000"/>
            <a:ext cx="27432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143000"/>
            <a:ext cx="2743200" cy="502920"/>
          </a:xfrm>
          <a:prstGeom prst="rect">
            <a:avLst/>
          </a:prstGeom>
          <a:solidFill>
            <a:srgbClr val="1B6CA8">
              <a:alpha val="85000"/>
            </a:srgbClr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44768" y="11430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🎲  Wide Monte Carlo Distribution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44768" y="170992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simulations revealed a wide cone of possible future values — underscoring the importance of diversification and risk budgeting.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2971800"/>
            <a:ext cx="27432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F4A223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2971800"/>
            <a:ext cx="2743200" cy="502920"/>
          </a:xfrm>
          <a:prstGeom prst="rect">
            <a:avLst/>
          </a:prstGeom>
          <a:solidFill>
            <a:srgbClr val="F4A223">
              <a:alpha val="85000"/>
            </a:srgbClr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29718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⭐  Max Sharpe = Best Risk-Adjusted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" y="353872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Maximum Sharpe portfolio achieved a Sharpe of ~3.07 — significantly superior to equal-weight allocation, validating the optimization approach.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154680" y="2971800"/>
            <a:ext cx="27432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C2C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971800"/>
            <a:ext cx="2743200" cy="502920"/>
          </a:xfrm>
          <a:prstGeom prst="rect">
            <a:avLst/>
          </a:prstGeom>
          <a:solidFill>
            <a:srgbClr val="00C2CB">
              <a:alpha val="85000"/>
            </a:srgbClr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718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⚡  Dynamic Stress Testing Value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64408" y="3538728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Tableau dashboard enabled real-time simulation of market shocks (2008 crisis, COVID crash) allowing portfolio managers to test resilience instantly.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663440"/>
            <a:ext cx="85953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681728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Ratio: 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463040" y="4681728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3.07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606040" y="4681728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Ann. Return: 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11880" y="4681728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127.7%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54880" y="4681728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Volatility: 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60720" y="4681728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41.7%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03720" y="4681728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 95%: 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909560" y="4681728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A2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−2.1%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960120"/>
          </a:xfrm>
          <a:prstGeom prst="rect">
            <a:avLst/>
          </a:prstGeom>
          <a:solidFill>
            <a:srgbClr val="F4A223"/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624405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successfully demonstrates the application of quantitative finance techniques for portfolio optimization and risk analysis.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1" y="1783080"/>
            <a:ext cx="2651760" cy="2286000"/>
          </a:xfrm>
          <a:prstGeom prst="rect">
            <a:avLst/>
          </a:prstGeom>
          <a:solidFill>
            <a:srgbClr val="112233"/>
          </a:solidFill>
          <a:ln w="1905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874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Analytics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834640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simulations and VaR calculations provide rigorous quantification of downside risk across all market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783080"/>
            <a:ext cx="2651760" cy="2286000"/>
          </a:xfrm>
          <a:prstGeom prst="rect">
            <a:avLst/>
          </a:prstGeom>
          <a:solidFill>
            <a:srgbClr val="112233"/>
          </a:solidFill>
          <a:ln w="1905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874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📐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91840" y="24231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Optimization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01568" y="2834640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Frontier analysis identifies the ideal weight allocation that maximizes risk-adjusted return for any investor profile.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1783080"/>
            <a:ext cx="2651760" cy="2286000"/>
          </a:xfrm>
          <a:prstGeom prst="rect">
            <a:avLst/>
          </a:prstGeom>
          <a:solidFill>
            <a:srgbClr val="112233"/>
          </a:solidFill>
          <a:ln w="1905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1874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26480" y="24231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36208" y="2834640"/>
            <a:ext cx="2423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Tableau dashboard enables real-time scenario analysis, making it an invaluable tool for investment and risk management teams.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B6CA8">
              <a:alpha val="20000"/>
            </a:srgbClr>
          </a:solidFill>
          <a:ln w="12700">
            <a:solidFill>
              <a:srgbClr val="1B6C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773168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514350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457200" cy="5143500"/>
          </a:xfrm>
          <a:prstGeom prst="rect">
            <a:avLst/>
          </a:prstGeom>
          <a:solidFill>
            <a:srgbClr val="F4A223"/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C2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Stress Testing &amp; Optimization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2542032"/>
            <a:ext cx="4572000" cy="27432"/>
          </a:xfrm>
          <a:prstGeom prst="rect">
            <a:avLst/>
          </a:prstGeom>
          <a:solidFill>
            <a:srgbClr val="F4A223"/>
          </a:solidFill>
          <a:ln w="12700">
            <a:solidFill>
              <a:srgbClr val="F4A22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974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967228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Intern  •  Infotact Solutions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6118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Python  ·  Pandas  ·  NumPy  ·  Matplotlib  ·  Seaborn  ·  Tableau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9776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NSE / Yahoo Finance  •  Stocks: TCS, Reliance, HDFC, SBI  •  Period: 2015–2020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1520"/>
          </a:solidFill>
          <a:ln w="12700">
            <a:solidFill>
              <a:srgbClr val="0A15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Infotact Data Analytics Internship  •  Month-2 Project  •  2025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1189</Words>
  <Application>Microsoft Office PowerPoint</Application>
  <PresentationFormat>On-screen Show (16:9)</PresentationFormat>
  <Paragraphs>253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Stress Testing &amp; Optimization</dc:title>
  <dc:subject>PptxGenJS Presentation</dc:subject>
  <dc:creator>Financial Analytics</dc:creator>
  <cp:lastModifiedBy>Abhisek Nayak</cp:lastModifiedBy>
  <cp:revision>3</cp:revision>
  <dcterms:created xsi:type="dcterms:W3CDTF">2026-03-25T17:41:53Z</dcterms:created>
  <dcterms:modified xsi:type="dcterms:W3CDTF">2026-04-10T13:53:54Z</dcterms:modified>
</cp:coreProperties>
</file>